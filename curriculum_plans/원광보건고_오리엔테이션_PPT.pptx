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원광보건고등학교 · 국어과 「독서와 작문」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241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독서 · 토론 · 논술 · 구술면접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프로젝트 오리엔테이션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2학기 아침 10분 독서 &amp; 진로 탐구 수행평가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297680"/>
            <a:ext cx="2423160" cy="457200"/>
          </a:xfrm>
          <a:prstGeom prst="roundRect">
            <a:avLst>
              <a:gd name="adj" fmla="val 50000"/>
            </a:avLst>
          </a:prstGeom>
          <a:solidFill>
            <a:srgbClr val="2F549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2976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기간 8.18. ~ 12.10.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4297680"/>
            <a:ext cx="1161288" cy="457200"/>
          </a:xfrm>
          <a:prstGeom prst="roundRect">
            <a:avLst>
              <a:gd name="adj" fmla="val 50000"/>
            </a:avLst>
          </a:prstGeom>
          <a:solidFill>
            <a:srgbClr val="2F5496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4297680"/>
            <a:ext cx="116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배점 50점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73168" y="4297680"/>
            <a:ext cx="1161288" cy="457200"/>
          </a:xfrm>
          <a:prstGeom prst="roundRect">
            <a:avLst>
              <a:gd name="adj" fmla="val 50000"/>
            </a:avLst>
          </a:prstGeom>
          <a:solidFill>
            <a:srgbClr val="2F5496"/>
          </a:solidFill>
          <a:ln/>
        </p:spPr>
      </p:sp>
      <p:sp>
        <p:nvSpPr>
          <p:cNvPr id="10" name="Text 8"/>
          <p:cNvSpPr/>
          <p:nvPr/>
        </p:nvSpPr>
        <p:spPr>
          <a:xfrm>
            <a:off x="4773168" y="4297680"/>
            <a:ext cx="116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 도서 4권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17336" y="4297680"/>
            <a:ext cx="845820" cy="457200"/>
          </a:xfrm>
          <a:prstGeom prst="roundRect">
            <a:avLst>
              <a:gd name="adj" fmla="val 50000"/>
            </a:avLst>
          </a:prstGeom>
          <a:solidFill>
            <a:srgbClr val="2F5496"/>
          </a:solidFill>
          <a:ln/>
        </p:spPr>
      </p:sp>
      <p:sp>
        <p:nvSpPr>
          <p:cNvPr id="12" name="Text 10"/>
          <p:cNvSpPr/>
          <p:nvPr/>
        </p:nvSpPr>
        <p:spPr>
          <a:xfrm>
            <a:off x="6117336" y="4297680"/>
            <a:ext cx="845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18주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2026학년도 2학기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이 프로젝트를 하나요?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진로·장래희망을 다룬 그림책 4권을 읽고, 나의 진로를 자기주도적으로 탐색하며,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토론·논술·구술면접을 통해 내 생각을 근거 있게 표현하는 힘을 기릅니다.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3383280" cy="2834640"/>
          </a:xfrm>
          <a:prstGeom prst="roundRect">
            <a:avLst>
              <a:gd name="adj" fmla="val 2581"/>
            </a:avLst>
          </a:prstGeom>
          <a:solidFill>
            <a:srgbClr val="F2F5FC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00400"/>
            <a:ext cx="640080" cy="640080"/>
          </a:xfrm>
          <a:prstGeom prst="ellipse">
            <a:avLst/>
          </a:prstGeom>
          <a:solidFill>
            <a:srgbClr val="2F549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20" dirty="0"/>
          </a:p>
        </p:txBody>
      </p:sp>
      <p:sp>
        <p:nvSpPr>
          <p:cNvPr id="8" name="Text 6"/>
          <p:cNvSpPr/>
          <p:nvPr/>
        </p:nvSpPr>
        <p:spPr>
          <a:xfrm>
            <a:off x="86868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진로 탐색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45262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4권의 진로 그림책으로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다양한 삶의 방향을 만난다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2834640"/>
            <a:ext cx="3383280" cy="2834640"/>
          </a:xfrm>
          <a:prstGeom prst="roundRect">
            <a:avLst>
              <a:gd name="adj" fmla="val 2581"/>
            </a:avLst>
          </a:prstGeom>
          <a:solidFill>
            <a:srgbClr val="F2F5FC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3200400"/>
            <a:ext cx="640080" cy="640080"/>
          </a:xfrm>
          <a:prstGeom prst="ellipse">
            <a:avLst/>
          </a:prstGeom>
          <a:solidFill>
            <a:srgbClr val="2F5496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20" dirty="0"/>
          </a:p>
        </p:txBody>
      </p:sp>
      <p:sp>
        <p:nvSpPr>
          <p:cNvPr id="13" name="Text 11"/>
          <p:cNvSpPr/>
          <p:nvPr/>
        </p:nvSpPr>
        <p:spPr>
          <a:xfrm>
            <a:off x="457200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근거 있는 표현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0" y="45262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토론·논술로 내 생각을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논리적으로 전달하는 힘을 기른다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55280" y="2834640"/>
            <a:ext cx="3383280" cy="2834640"/>
          </a:xfrm>
          <a:prstGeom prst="roundRect">
            <a:avLst>
              <a:gd name="adj" fmla="val 2581"/>
            </a:avLst>
          </a:prstGeom>
          <a:solidFill>
            <a:srgbClr val="F2F5FC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3200400"/>
            <a:ext cx="640080" cy="640080"/>
          </a:xfrm>
          <a:prstGeom prst="ellipse">
            <a:avLst/>
          </a:prstGeom>
          <a:solidFill>
            <a:srgbClr val="2F5496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20" dirty="0"/>
          </a:p>
        </p:txBody>
      </p:sp>
      <p:sp>
        <p:nvSpPr>
          <p:cNvPr id="18" name="Text 16"/>
          <p:cNvSpPr/>
          <p:nvPr/>
        </p:nvSpPr>
        <p:spPr>
          <a:xfrm>
            <a:off x="827532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면접 실전 감각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75320" y="45262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구술면접으로 실제 취업·진학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면접을 미리 연습한다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원광보건고 「독서와 작문」 오리엔테이션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전체 진행 순서 (8.18. ~ 12.10.)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2F5FC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42316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6" name="Text 4"/>
          <p:cNvSpPr/>
          <p:nvPr/>
        </p:nvSpPr>
        <p:spPr>
          <a:xfrm>
            <a:off x="148590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2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독서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1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8.18.~9.18.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1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(5주)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5262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4권 필독 +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매일 독서일지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81528" y="33375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F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19272" y="210312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DCE6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6532" y="242316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3" name="Text 11"/>
          <p:cNvSpPr/>
          <p:nvPr/>
        </p:nvSpPr>
        <p:spPr>
          <a:xfrm>
            <a:off x="4256532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20" dirty="0"/>
          </a:p>
        </p:txBody>
      </p:sp>
      <p:sp>
        <p:nvSpPr>
          <p:cNvPr id="14" name="Text 12"/>
          <p:cNvSpPr/>
          <p:nvPr/>
        </p:nvSpPr>
        <p:spPr>
          <a:xfrm>
            <a:off x="3319272" y="32461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토론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319272" y="37947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1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9.19.~10.18.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1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(4주)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02152" y="45262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 · 비경쟁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토론 선택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52160" y="33375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F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089904" y="210312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2F5FC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27164" y="242316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7027164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20" dirty="0"/>
          </a:p>
        </p:txBody>
      </p:sp>
      <p:sp>
        <p:nvSpPr>
          <p:cNvPr id="21" name="Text 19"/>
          <p:cNvSpPr/>
          <p:nvPr/>
        </p:nvSpPr>
        <p:spPr>
          <a:xfrm>
            <a:off x="6089904" y="32461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논술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089904" y="37947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1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10.19.~11.18.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1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(11.13. 실시)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72784" y="45262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찬반 논제로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논술문 작성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22792" y="33375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F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860536" y="210312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DCE6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797796" y="242316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7" name="Text 25"/>
          <p:cNvSpPr/>
          <p:nvPr/>
        </p:nvSpPr>
        <p:spPr>
          <a:xfrm>
            <a:off x="9797796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20" dirty="0"/>
          </a:p>
        </p:txBody>
      </p:sp>
      <p:sp>
        <p:nvSpPr>
          <p:cNvPr id="28" name="Text 26"/>
          <p:cNvSpPr/>
          <p:nvPr/>
        </p:nvSpPr>
        <p:spPr>
          <a:xfrm>
            <a:off x="8860536" y="32461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구술면접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860536" y="37947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1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11.19.~12.10.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1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(12.4. 실시)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043416" y="45262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면접 대비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 연습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원광보건고 「독서와 작문」 오리엔테이션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함께 읽을 책 4권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12848"/>
            <a:ext cx="640080" cy="640080"/>
          </a:xfrm>
          <a:prstGeom prst="ellipse">
            <a:avLst/>
          </a:prstGeom>
          <a:solidFill>
            <a:srgbClr val="DCE6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12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20" dirty="0"/>
          </a:p>
        </p:txBody>
      </p:sp>
      <p:sp>
        <p:nvSpPr>
          <p:cNvPr id="7" name="Text 5"/>
          <p:cNvSpPr/>
          <p:nvPr/>
        </p:nvSpPr>
        <p:spPr>
          <a:xfrm>
            <a:off x="1645920" y="199339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진짜 내 소원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24231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1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이선미 · 글로연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645920" y="274320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진짜 원하는 것을 찾아가는 이야기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82880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2212848"/>
            <a:ext cx="640080" cy="640080"/>
          </a:xfrm>
          <a:prstGeom prst="ellipse">
            <a:avLst/>
          </a:prstGeom>
          <a:solidFill>
            <a:srgbClr val="DCE6FF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212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20" dirty="0"/>
          </a:p>
        </p:txBody>
      </p:sp>
      <p:sp>
        <p:nvSpPr>
          <p:cNvPr id="13" name="Text 11"/>
          <p:cNvSpPr/>
          <p:nvPr/>
        </p:nvSpPr>
        <p:spPr>
          <a:xfrm>
            <a:off x="7178040" y="199339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그래도 꼭 해 볼 거야!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78040" y="24231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1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킴 힐야드(장미란 옮김) · 북베어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178040" y="274320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포기하지 않고 산 정상에 도전하는 곤충 이야기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904488"/>
            <a:ext cx="640080" cy="640080"/>
          </a:xfrm>
          <a:prstGeom prst="ellipse">
            <a:avLst/>
          </a:prstGeom>
          <a:solidFill>
            <a:srgbClr val="DCE6F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9044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20" dirty="0"/>
          </a:p>
        </p:txBody>
      </p:sp>
      <p:sp>
        <p:nvSpPr>
          <p:cNvPr id="19" name="Text 17"/>
          <p:cNvSpPr/>
          <p:nvPr/>
        </p:nvSpPr>
        <p:spPr>
          <a:xfrm>
            <a:off x="1645920" y="368503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열두 살 장래 희망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45920" y="411480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1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박성우 · 창비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645920" y="443484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다양한 직업의 가치를 그린 동시집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80760" y="352044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2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55080" y="3904488"/>
            <a:ext cx="640080" cy="640080"/>
          </a:xfrm>
          <a:prstGeom prst="ellipse">
            <a:avLst/>
          </a:prstGeom>
          <a:solidFill>
            <a:srgbClr val="DCE6FF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39044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20" dirty="0"/>
          </a:p>
        </p:txBody>
      </p:sp>
      <p:sp>
        <p:nvSpPr>
          <p:cNvPr id="25" name="Text 23"/>
          <p:cNvSpPr/>
          <p:nvPr/>
        </p:nvSpPr>
        <p:spPr>
          <a:xfrm>
            <a:off x="7178040" y="368503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난 커서 어른이 되면 말이야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78040" y="411480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19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다비드 칼리 · 나무말미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178040" y="443484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어른이 되면 무엇을 할지 자유롭게 상상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원광보건고 「독서와 작문」 오리엔테이션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· READING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독서: 8.18. ~ 9.18. (5주)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4008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737360"/>
                <a:gridCol w="3657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8.18.~8.21.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난 커서 어른이 되면 말이야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8.24.~8.28.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열두 살 장래 희망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8.31.~9.4.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진짜 내 소원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9.7.~9.11.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그래도 꼭 해 볼 거야!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9.14.~9.18.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독서일지 최종 점검 · 제출 + 트랙 배정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269480" y="1691640"/>
            <a:ext cx="4343400" cy="4206240"/>
          </a:xfrm>
          <a:prstGeom prst="roundRect">
            <a:avLst>
              <a:gd name="adj" fmla="val 1739"/>
            </a:avLst>
          </a:prstGeom>
          <a:solidFill>
            <a:srgbClr val="1F3864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635240" y="201168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매일 10분 독서 습관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635240" y="2606040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5000"/>
              </a:lnSpc>
              <a:buSzPct val="100000"/>
              <a:buChar char="●"/>
            </a:pPr>
            <a:r>
              <a:rPr lang="en-US" sz="125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월~목: 정해진 분량 묵독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635240" y="3383280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5000"/>
              </a:lnSpc>
              <a:buSzPct val="100000"/>
              <a:buChar char="●"/>
            </a:pPr>
            <a:r>
              <a:rPr lang="en-US" sz="125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금요일: 한 줄 소감 기록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35240" y="4160520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5000"/>
              </a:lnSpc>
              <a:buSzPct val="100000"/>
              <a:buChar char="●"/>
            </a:pPr>
            <a:r>
              <a:rPr lang="en-US" sz="125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책마다 독서일지 1장이 아니라</a:t>
            </a:r>
            <a:endParaRPr lang="en-US" sz="1250" dirty="0"/>
          </a:p>
          <a:p>
            <a:pPr marL="177800" indent="-177800">
              <a:lnSpc>
                <a:spcPct val="125000"/>
              </a:lnSpc>
              <a:buSzPct val="100000"/>
              <a:buChar char="●"/>
            </a:pPr>
            <a:r>
              <a:rPr lang="en-US" sz="125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매일 1장씩 작성 (총 약 20회)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35240" y="4937760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5000"/>
              </a:lnSpc>
              <a:buSzPct val="100000"/>
              <a:buChar char="●"/>
            </a:pPr>
            <a:r>
              <a:rPr lang="en-US" sz="125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독서일지 항목: 책 제목/날짜,</a:t>
            </a:r>
            <a:endParaRPr lang="en-US" sz="1250" dirty="0"/>
          </a:p>
          <a:p>
            <a:pPr marL="177800" indent="-177800">
              <a:lnSpc>
                <a:spcPct val="125000"/>
              </a:lnSpc>
              <a:buSzPct val="100000"/>
              <a:buChar char="●"/>
            </a:pPr>
            <a:r>
              <a:rPr lang="en-US" sz="125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인상 깊은 장면, 느낀 점,</a:t>
            </a:r>
            <a:endParaRPr lang="en-US" sz="1250" dirty="0"/>
          </a:p>
          <a:p>
            <a:pPr marL="177800" indent="-177800">
              <a:lnSpc>
                <a:spcPct val="125000"/>
              </a:lnSpc>
              <a:buSzPct val="100000"/>
              <a:buChar char="●"/>
            </a:pPr>
            <a:r>
              <a:rPr lang="en-US" sz="125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진로 연결, 오늘의 질문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원광보건고 「독서와 작문」 오리엔테이션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· TRACK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트랙 편성: 전체 4권 필독 + 트랙별 2권 근거 활용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독서 5주차에 A트랙 또는 B트랙으로 배정됩니다. 4권을 모두 읽지만, 토론·논술 단계에서는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트랙에 배정된 2권의 내용을 핵심 근거로 집중 활용합니다.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5257800" cy="3108960"/>
          </a:xfrm>
          <a:prstGeom prst="roundRect">
            <a:avLst>
              <a:gd name="adj" fmla="val 2353"/>
            </a:avLst>
          </a:prstGeom>
          <a:solidFill>
            <a:srgbClr val="F2F5FC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017520"/>
            <a:ext cx="685800" cy="685800"/>
          </a:xfrm>
          <a:prstGeom prst="ellipse">
            <a:avLst/>
          </a:prstGeom>
          <a:solidFill>
            <a:srgbClr val="2F549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017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A트랙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920240" y="306324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탐색 vs 결단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배정 도서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25196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『난 커서 어른이 되면 말이야』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+『진짜 내 소원』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507492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다양하게 상상하기 ↔ 진짜 원함 하나 찾기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2651760"/>
            <a:ext cx="5257800" cy="3108960"/>
          </a:xfrm>
          <a:prstGeom prst="roundRect">
            <a:avLst>
              <a:gd name="adj" fmla="val 2353"/>
            </a:avLst>
          </a:prstGeom>
          <a:solidFill>
            <a:srgbClr val="FDF3E7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46520" y="3017520"/>
            <a:ext cx="685800" cy="685800"/>
          </a:xfrm>
          <a:prstGeom prst="ellipse">
            <a:avLst/>
          </a:prstGeom>
          <a:solidFill>
            <a:srgbClr val="E1962A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3017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B트랙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7452360" y="306324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다양성 vs 도전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46520" y="397764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배정 도서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46520" y="425196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『열두 살 장래 희망』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+『그래도 꼭 해 볼 거야!』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507492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직업 알아보기 ↔ 정한 것에 도전하기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원광보건고 「독서와 작문」 오리엔테이션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· DEBATE TOPICS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토론·논술 논제 (트랙당 2개, 총 4개)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트랙 안에서도 직업 선택형 / 확장형 중 원하는 논제를 골라 토론·논술할 수 있습니다.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737360"/>
                <a:gridCol w="7955280"/>
              </a:tblGrid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트랙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논제 (찬성 / 반대)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A트랙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F54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직업선택형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장래희망은 하나로 빨리 정하기보다, 여러 가능성을 계속 열어두고 탐색해야 한다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A트랙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19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확장형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타인의 기대보다 자기 자신이 원하는 것을 우선해야 한다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B트랙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F54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직업선택형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특성화고 학생은 안정적인 직업보다 정말 하고 싶은 일에 도전해야 한다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B트랙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19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확장형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새로운 일에 도전할 때는 완벽하게 준비한 후에 시작해야 한다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원광보건고 「독서와 작문」 오리엔테이션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· DEBATE FORMAT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토론은 두 가지 방식 중 선택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3291840"/>
          </a:xfrm>
          <a:prstGeom prst="roundRect">
            <a:avLst>
              <a:gd name="adj" fmla="val 2222"/>
            </a:avLst>
          </a:prstGeom>
          <a:solidFill>
            <a:srgbClr val="F2F5FC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2F5496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01168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경쟁토론 (찬반)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78892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5000"/>
              </a:lnSpc>
              <a:buSzPct val="100000"/>
              <a:buChar char="●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2인 1팀 구성, 찬성 1팀 · 반대 1팀(2팀)이 토론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05840" y="347472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5000"/>
              </a:lnSpc>
              <a:buSzPct val="100000"/>
              <a:buChar char="●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개요서 → 입론서 → 토론 실습 순서로 진행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05840" y="416052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5000"/>
              </a:lnSpc>
              <a:buSzPct val="100000"/>
              <a:buChar char="●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승패가 있는 정식 토론 형식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080760" y="1691640"/>
            <a:ext cx="5257800" cy="3291840"/>
          </a:xfrm>
          <a:prstGeom prst="roundRect">
            <a:avLst>
              <a:gd name="adj" fmla="val 2222"/>
            </a:avLst>
          </a:prstGeom>
          <a:solidFill>
            <a:srgbClr val="FDF3E7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2057400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E1962A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01168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비경쟁토론 (하브루타식 대화)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37960" y="278892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5000"/>
              </a:lnSpc>
              <a:buSzPct val="100000"/>
              <a:buChar char="●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짝(2인 1팀)과 질문 · 답변을 주고받는 방식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37960" y="347472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5000"/>
              </a:lnSpc>
              <a:buSzPct val="100000"/>
              <a:buChar char="●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승패 · 찬반 입장 없이 생각을 자유롭게 나눔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37960" y="416052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5000"/>
              </a:lnSpc>
              <a:buSzPct val="100000"/>
              <a:buChar char="●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도서별 개방형 질문으로 진행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원광보건고 「독서와 작문」 오리엔테이션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· ESSAY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논술: 10.19. ~ 11.18.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2F549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2029968"/>
            <a:ext cx="5715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경쟁토론과 동일한 찬반 논제 중 하나를 택하여 논증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457200" cy="457200"/>
          </a:xfrm>
          <a:prstGeom prst="ellipse">
            <a:avLst/>
          </a:prstGeom>
          <a:solidFill>
            <a:srgbClr val="2F549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 조건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3081528"/>
            <a:ext cx="5715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트랙 배정 도서 2권 각각에서 최소 1개 장면을 구체적 근거로 인용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(나머지 2권도 보조 근거로 활용 가능)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2F549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3794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4133088"/>
            <a:ext cx="5715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서론 - 본론 - 결론 구조로 작성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269480" y="1737360"/>
            <a:ext cx="4343400" cy="4114800"/>
          </a:xfrm>
          <a:prstGeom prst="roundRect">
            <a:avLst>
              <a:gd name="adj" fmla="val 1778"/>
            </a:avLst>
          </a:prstGeom>
          <a:solidFill>
            <a:srgbClr val="1F3864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35240" y="20574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실시 방식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35240" y="251460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정해진 날짜에 시험처럼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일괄 실시합니다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635240" y="333756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2F5496"/>
          </a:solidFill>
          <a:ln/>
        </p:spPr>
      </p:sp>
      <p:sp>
        <p:nvSpPr>
          <p:cNvPr id="20" name="Text 18"/>
          <p:cNvSpPr/>
          <p:nvPr/>
        </p:nvSpPr>
        <p:spPr>
          <a:xfrm>
            <a:off x="7818120" y="34747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 공지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18120" y="37033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10.30.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635240" y="4434840"/>
            <a:ext cx="3611880" cy="1005840"/>
          </a:xfrm>
          <a:prstGeom prst="roundRect">
            <a:avLst>
              <a:gd name="adj" fmla="val 7273"/>
            </a:avLst>
          </a:prstGeom>
          <a:solidFill>
            <a:srgbClr val="E1962A"/>
          </a:solidFill>
          <a:ln/>
        </p:spPr>
      </p:sp>
      <p:sp>
        <p:nvSpPr>
          <p:cNvPr id="23" name="Text 21"/>
          <p:cNvSpPr/>
          <p:nvPr/>
        </p:nvSpPr>
        <p:spPr>
          <a:xfrm>
            <a:off x="7818120" y="457200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논술 실시일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18120" y="48006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11.13.(금)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원광보건고 「독서와 작문」 오리엔테이션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ORAL INTERVIEW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구술면접: 11.19. ~ 12.10.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질문 (예시)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6492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331720"/>
            <a:ext cx="457200" cy="457200"/>
          </a:xfrm>
          <a:prstGeom prst="ellipse">
            <a:avLst/>
          </a:prstGeom>
          <a:solidFill>
            <a:srgbClr val="2F549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1945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권 중 가장 기억에 남는 장면과 그 이유는?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6492240" cy="731520"/>
          </a:xfrm>
          <a:prstGeom prst="roundRect">
            <a:avLst>
              <a:gd name="adj" fmla="val 10000"/>
            </a:avLst>
          </a:prstGeom>
          <a:solidFill>
            <a:srgbClr val="F2F5FC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rgbClr val="2F549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30632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 트랙 논제에 대한 입장과 근거를 말해보세요.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6492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2F5496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39319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토론에서 나온 반대 의견 중 설득력 있었던 것은?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800600"/>
            <a:ext cx="6492240" cy="731520"/>
          </a:xfrm>
          <a:prstGeom prst="roundRect">
            <a:avLst>
              <a:gd name="adj" fmla="val 10000"/>
            </a:avLst>
          </a:prstGeom>
          <a:solidFill>
            <a:srgbClr val="F2F5FC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4937760"/>
            <a:ext cx="457200" cy="457200"/>
          </a:xfrm>
          <a:prstGeom prst="ellipse">
            <a:avLst/>
          </a:prstGeom>
          <a:solidFill>
            <a:srgbClr val="2F549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48006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책을 읽고 진로에 대해 새롭게 생각한 점은?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269480" y="1737360"/>
            <a:ext cx="4343400" cy="4114800"/>
          </a:xfrm>
          <a:prstGeom prst="roundRect">
            <a:avLst>
              <a:gd name="adj" fmla="val 1778"/>
            </a:avLst>
          </a:prstGeom>
          <a:solidFill>
            <a:srgbClr val="1F3864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35240" y="201168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진행 방식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35240" y="242316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1인당 2~3분, 사전 예고 없는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꼬리질문 1개 포함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35240" y="3108960"/>
            <a:ext cx="3611880" cy="822960"/>
          </a:xfrm>
          <a:prstGeom prst="roundRect">
            <a:avLst>
              <a:gd name="adj" fmla="val 8889"/>
            </a:avLst>
          </a:prstGeom>
          <a:solidFill>
            <a:srgbClr val="2F5496"/>
          </a:solidFill>
          <a:ln/>
        </p:spPr>
      </p:sp>
      <p:sp>
        <p:nvSpPr>
          <p:cNvPr id="25" name="Text 23"/>
          <p:cNvSpPr/>
          <p:nvPr/>
        </p:nvSpPr>
        <p:spPr>
          <a:xfrm>
            <a:off x="7818120" y="322783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 공지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818120" y="345643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11.20.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7635240" y="406908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E1962A"/>
          </a:solidFill>
          <a:ln/>
        </p:spPr>
      </p:sp>
      <p:sp>
        <p:nvSpPr>
          <p:cNvPr id="28" name="Text 26"/>
          <p:cNvSpPr/>
          <p:nvPr/>
        </p:nvSpPr>
        <p:spPr>
          <a:xfrm>
            <a:off x="7818120" y="418795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구술면접 실시일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818120" y="441655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12.4.(금)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635240" y="512064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초점: 내용 이해 정확성 + 주장의 명료성 + 근거의 타당성 + 자신감 있는 표현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원광보건고 「독서와 작문」 오리엔테이션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수행평가 배점 (총 50점)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417320" cy="1828800"/>
          </a:xfrm>
          <a:prstGeom prst="roundRect">
            <a:avLst>
              <a:gd name="adj" fmla="val 5161"/>
            </a:avLst>
          </a:prstGeom>
          <a:solidFill>
            <a:srgbClr val="F2F5FC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24028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F54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독서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103120" y="2011680"/>
            <a:ext cx="1417320" cy="1828800"/>
          </a:xfrm>
          <a:prstGeom prst="roundRect">
            <a:avLst>
              <a:gd name="adj" fmla="val 5161"/>
            </a:avLst>
          </a:prstGeom>
          <a:solidFill>
            <a:srgbClr val="F2F5FC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03120" y="224028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F54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194560" y="31089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토론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0" y="2011680"/>
            <a:ext cx="1417320" cy="1828800"/>
          </a:xfrm>
          <a:prstGeom prst="roundRect">
            <a:avLst>
              <a:gd name="adj" fmla="val 5161"/>
            </a:avLst>
          </a:prstGeom>
          <a:solidFill>
            <a:srgbClr val="F2F5FC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0" y="224028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F54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749040" y="31089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논술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212080" y="2011680"/>
            <a:ext cx="1417320" cy="1828800"/>
          </a:xfrm>
          <a:prstGeom prst="roundRect">
            <a:avLst>
              <a:gd name="adj" fmla="val 5161"/>
            </a:avLst>
          </a:prstGeom>
          <a:solidFill>
            <a:srgbClr val="F2F5FC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12080" y="224028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F54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303520" y="31089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구술면접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766560" y="2011680"/>
            <a:ext cx="1417320" cy="1828800"/>
          </a:xfrm>
          <a:prstGeom prst="roundRect">
            <a:avLst>
              <a:gd name="adj" fmla="val 5161"/>
            </a:avLst>
          </a:prstGeom>
          <a:solidFill>
            <a:srgbClr val="FDF3E7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224028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19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858000" y="31089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사자성어 쓰기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321040" y="2011680"/>
            <a:ext cx="1417320" cy="1828800"/>
          </a:xfrm>
          <a:prstGeom prst="roundRect">
            <a:avLst>
              <a:gd name="adj" fmla="val 5161"/>
            </a:avLst>
          </a:prstGeom>
          <a:solidFill>
            <a:srgbClr val="FDF3E7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21040" y="224028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19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412480" y="31089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시선패턴분석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(리드포스쿨)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875520" y="2011680"/>
            <a:ext cx="1737360" cy="1828800"/>
          </a:xfrm>
          <a:prstGeom prst="roundRect">
            <a:avLst>
              <a:gd name="adj" fmla="val 4211"/>
            </a:avLst>
          </a:prstGeom>
          <a:solidFill>
            <a:srgbClr val="1F3864"/>
          </a:solidFill>
          <a:ln/>
        </p:spPr>
      </p:sp>
      <p:sp>
        <p:nvSpPr>
          <p:cNvPr id="23" name="Text 21"/>
          <p:cNvSpPr/>
          <p:nvPr/>
        </p:nvSpPr>
        <p:spPr>
          <a:xfrm>
            <a:off x="9875520" y="26060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50점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48640" y="429768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DCE6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" y="457200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~ ④단계(40점)는 독서·토론·논술·구술면접 프로젝트 점수이고,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~ ⑥ 상시 수행평가(10점)는 2학기 동안 별도로 진행되는 사자성어 쓰기와 리드포스쿨 프로그램을 활용한 시선패턴분석 독서활동입니다.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원광보건고 「독서와 작문」 오리엔테이션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한눈에 보는 전체 일정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880360" y="2148840"/>
            <a:ext cx="0" cy="3383280"/>
          </a:xfrm>
          <a:prstGeom prst="line">
            <a:avLst/>
          </a:prstGeom>
          <a:noFill/>
          <a:ln w="38100">
            <a:solidFill>
              <a:srgbClr val="DCE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20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8.18.~9.18.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70632" y="2039112"/>
            <a:ext cx="219456" cy="219456"/>
          </a:xfrm>
          <a:prstGeom prst="ellipse">
            <a:avLst/>
          </a:prstGeom>
          <a:solidFill>
            <a:srgbClr val="1F386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46120" y="1920240"/>
            <a:ext cx="8686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92024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독서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166360" y="192024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4권 필독 + 매일 독서일지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9.19.~10.18.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70632" y="2999232"/>
            <a:ext cx="219456" cy="219456"/>
          </a:xfrm>
          <a:prstGeom prst="ellipse">
            <a:avLst/>
          </a:prstGeom>
          <a:solidFill>
            <a:srgbClr val="1F386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2880360"/>
            <a:ext cx="8686800" cy="685800"/>
          </a:xfrm>
          <a:prstGeom prst="roundRect">
            <a:avLst>
              <a:gd name="adj" fmla="val 10667"/>
            </a:avLst>
          </a:prstGeom>
          <a:solidFill>
            <a:srgbClr val="F2F5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288036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토론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66360" y="288036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트랙별 경쟁 · 비경쟁토론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8404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10.19.~11.18.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70632" y="3959352"/>
            <a:ext cx="219456" cy="219456"/>
          </a:xfrm>
          <a:prstGeom prst="ellipse">
            <a:avLst/>
          </a:prstGeom>
          <a:solidFill>
            <a:srgbClr val="1F386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3840480"/>
            <a:ext cx="8686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38404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논술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66360" y="384048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11.13.(금) 논술 실시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800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11.19.~12.10.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70632" y="4919472"/>
            <a:ext cx="219456" cy="219456"/>
          </a:xfrm>
          <a:prstGeom prst="ellipse">
            <a:avLst/>
          </a:prstGeom>
          <a:solidFill>
            <a:srgbClr val="1F386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46120" y="4800600"/>
            <a:ext cx="8686800" cy="685800"/>
          </a:xfrm>
          <a:prstGeom prst="roundRect">
            <a:avLst>
              <a:gd name="adj" fmla="val 10667"/>
            </a:avLst>
          </a:prstGeom>
          <a:solidFill>
            <a:srgbClr val="F2F5FC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480060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구술면접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166360" y="480060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12.4.(금) 구술면접 실시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원광보건고 「독서와 작문」 오리엔테이션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꼭 알아두세요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F2F5FC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1600200" y="208483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부정행위 금지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514600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표절 · 대필이 확인된 산출물은 해당 항목 0점 처리됩니다.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182880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F2F5FC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214884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60" dirty="0"/>
          </a:p>
        </p:txBody>
      </p:sp>
      <p:sp>
        <p:nvSpPr>
          <p:cNvPr id="12" name="Text 10"/>
          <p:cNvSpPr/>
          <p:nvPr/>
        </p:nvSpPr>
        <p:spPr>
          <a:xfrm>
            <a:off x="7132320" y="208483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재응시 기회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32320" y="2514600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질병 등 불가피한 사유로 결시한 경우, 재응시(대체 평가) 기회가 주어집니다.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F2F5FC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977640"/>
            <a:ext cx="548640" cy="548640"/>
          </a:xfrm>
          <a:prstGeom prst="ellipse">
            <a:avLst/>
          </a:prstGeom>
          <a:solidFill>
            <a:srgbClr val="2F549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60" dirty="0"/>
          </a:p>
        </p:txBody>
      </p:sp>
      <p:sp>
        <p:nvSpPr>
          <p:cNvPr id="17" name="Text 15"/>
          <p:cNvSpPr/>
          <p:nvPr/>
        </p:nvSpPr>
        <p:spPr>
          <a:xfrm>
            <a:off x="1600200" y="391363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이의신청 절차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4343400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채점 결과에 이의가 있으면 정해진 기간 내 이의신청이 가능합니다.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0760" y="365760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F2F5FC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3977640"/>
            <a:ext cx="548640" cy="548640"/>
          </a:xfrm>
          <a:prstGeom prst="ellipse">
            <a:avLst/>
          </a:prstGeom>
          <a:solidFill>
            <a:srgbClr val="2F549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60" dirty="0"/>
          </a:p>
        </p:txBody>
      </p:sp>
      <p:sp>
        <p:nvSpPr>
          <p:cNvPr id="22" name="Text 20"/>
          <p:cNvSpPr/>
          <p:nvPr/>
        </p:nvSpPr>
        <p:spPr>
          <a:xfrm>
            <a:off x="7132320" y="391363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보충 지도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32320" y="4343400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독서 · 토론 단계에서 어려움을 겪는 학생에게는 보충 지도를 제공합니다.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원광보건고 「독서와 작문」 오리엔테이션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함께 읽고, 토론하고, 나의 길을 찾아갑니다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3749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문의: 국어과 담당 교사 ( ________ )  ·  쉬는 시간 / 방과 후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원광보건고등학교 「독서와 작문」 · 2026학년도 2학기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2026-08-12T05:02:27Z</dcterms:created>
  <dcterms:modified xsi:type="dcterms:W3CDTF">2026-08-12T05:02:27Z</dcterms:modified>
</cp:coreProperties>
</file>